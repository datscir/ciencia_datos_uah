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8" r:id="rId4"/>
    <p:sldId id="259" r:id="rId5"/>
    <p:sldId id="265" r:id="rId6"/>
    <p:sldId id="276" r:id="rId7"/>
    <p:sldId id="258" r:id="rId8"/>
    <p:sldId id="269" r:id="rId9"/>
    <p:sldId id="270" r:id="rId10"/>
    <p:sldId id="271" r:id="rId11"/>
    <p:sldId id="272" r:id="rId12"/>
    <p:sldId id="273" r:id="rId13"/>
    <p:sldId id="274" r:id="rId14"/>
    <p:sldId id="27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570" autoAdjust="0"/>
  </p:normalViewPr>
  <p:slideViewPr>
    <p:cSldViewPr snapToGrid="0">
      <p:cViewPr varScale="1">
        <p:scale>
          <a:sx n="73" d="100"/>
          <a:sy n="73" d="100"/>
        </p:scale>
        <p:origin x="20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z Benito Paloma" userId="75f6ccab-6d2f-42b5-b1ea-3cfb406e5cb3" providerId="ADAL" clId="{00842D2B-3B5C-44EF-9B74-EFB917DDAA41}"/>
    <pc:docChg chg="undo custSel delSld modSld">
      <pc:chgData name="Ruiz Benito Paloma" userId="75f6ccab-6d2f-42b5-b1ea-3cfb406e5cb3" providerId="ADAL" clId="{00842D2B-3B5C-44EF-9B74-EFB917DDAA41}" dt="2025-12-22T08:11:59.280" v="315" actId="6549"/>
      <pc:docMkLst>
        <pc:docMk/>
      </pc:docMkLst>
      <pc:sldChg chg="modSp mod">
        <pc:chgData name="Ruiz Benito Paloma" userId="75f6ccab-6d2f-42b5-b1ea-3cfb406e5cb3" providerId="ADAL" clId="{00842D2B-3B5C-44EF-9B74-EFB917DDAA41}" dt="2025-12-22T08:08:13.438" v="56" actId="20577"/>
        <pc:sldMkLst>
          <pc:docMk/>
          <pc:sldMk cId="3109618600" sldId="256"/>
        </pc:sldMkLst>
        <pc:spChg chg="mod">
          <ac:chgData name="Ruiz Benito Paloma" userId="75f6ccab-6d2f-42b5-b1ea-3cfb406e5cb3" providerId="ADAL" clId="{00842D2B-3B5C-44EF-9B74-EFB917DDAA41}" dt="2025-12-22T08:08:13.438" v="56" actId="20577"/>
          <ac:spMkLst>
            <pc:docMk/>
            <pc:sldMk cId="3109618600" sldId="256"/>
            <ac:spMk id="5" creationId="{317B1B5E-4B97-4D73-89E4-A67BF15C93E0}"/>
          </ac:spMkLst>
        </pc:spChg>
      </pc:sldChg>
      <pc:sldChg chg="modSp mod">
        <pc:chgData name="Ruiz Benito Paloma" userId="75f6ccab-6d2f-42b5-b1ea-3cfb406e5cb3" providerId="ADAL" clId="{00842D2B-3B5C-44EF-9B74-EFB917DDAA41}" dt="2025-12-22T08:11:23.366" v="311" actId="20577"/>
        <pc:sldMkLst>
          <pc:docMk/>
          <pc:sldMk cId="3933914052" sldId="265"/>
        </pc:sldMkLst>
        <pc:spChg chg="mod">
          <ac:chgData name="Ruiz Benito Paloma" userId="75f6ccab-6d2f-42b5-b1ea-3cfb406e5cb3" providerId="ADAL" clId="{00842D2B-3B5C-44EF-9B74-EFB917DDAA41}" dt="2025-12-22T08:11:23.366" v="311" actId="20577"/>
          <ac:spMkLst>
            <pc:docMk/>
            <pc:sldMk cId="3933914052" sldId="265"/>
            <ac:spMk id="3" creationId="{93CAF7F3-C9C8-428E-A930-98F52CB84D5D}"/>
          </ac:spMkLst>
        </pc:spChg>
      </pc:sldChg>
      <pc:sldChg chg="del">
        <pc:chgData name="Ruiz Benito Paloma" userId="75f6ccab-6d2f-42b5-b1ea-3cfb406e5cb3" providerId="ADAL" clId="{00842D2B-3B5C-44EF-9B74-EFB917DDAA41}" dt="2025-12-22T08:08:25.242" v="57" actId="47"/>
        <pc:sldMkLst>
          <pc:docMk/>
          <pc:sldMk cId="3803834178" sldId="267"/>
        </pc:sldMkLst>
      </pc:sldChg>
      <pc:sldChg chg="del">
        <pc:chgData name="Ruiz Benito Paloma" userId="75f6ccab-6d2f-42b5-b1ea-3cfb406e5cb3" providerId="ADAL" clId="{00842D2B-3B5C-44EF-9B74-EFB917DDAA41}" dt="2025-12-22T08:08:25.242" v="57" actId="47"/>
        <pc:sldMkLst>
          <pc:docMk/>
          <pc:sldMk cId="1591819199" sldId="275"/>
        </pc:sldMkLst>
      </pc:sldChg>
      <pc:sldChg chg="modSp mod">
        <pc:chgData name="Ruiz Benito Paloma" userId="75f6ccab-6d2f-42b5-b1ea-3cfb406e5cb3" providerId="ADAL" clId="{00842D2B-3B5C-44EF-9B74-EFB917DDAA41}" dt="2025-12-22T08:11:59.280" v="315" actId="6549"/>
        <pc:sldMkLst>
          <pc:docMk/>
          <pc:sldMk cId="1801776769" sldId="276"/>
        </pc:sldMkLst>
        <pc:spChg chg="mod">
          <ac:chgData name="Ruiz Benito Paloma" userId="75f6ccab-6d2f-42b5-b1ea-3cfb406e5cb3" providerId="ADAL" clId="{00842D2B-3B5C-44EF-9B74-EFB917DDAA41}" dt="2025-12-22T08:11:59.280" v="315" actId="6549"/>
          <ac:spMkLst>
            <pc:docMk/>
            <pc:sldMk cId="1801776769" sldId="276"/>
            <ac:spMk id="3" creationId="{93CAF7F3-C9C8-428E-A930-98F52CB84D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7843D-3059-4483-AC76-D42365292215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1515B-3DA1-4EA7-BB66-C7F6A2562E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949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54897-3006-4EE2-BCA2-2C9F922500D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76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prender a analizar datos y hacer modelos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tenerlo como herramienta para un mejor manejo y visualización de datos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Poder llevar a cabo análisis estadísticos apropiados, y poder visualizar datos en la mejor forma posible.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Con este curso me gustaría aprender a manejar R como una herramienta estadística para tratar los datos de mi tesis. Creo que R tiene mucho potencial en este sentido y por ello cada vez va teniendo mayor importancia en el sector.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Afianzar los conocimientos previamente adquiridos sobre introducción a R y manejo de datos; mejorar y profundizar en la visualización de datos, especialmente con ggplot2; aprender y conocer sobre las diferentes herramientas para trabajos reproducibles y colaborativos.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Me gustaría tener claros los recursos que R ofrece (yo uso </a:t>
            </a:r>
            <a:r>
              <a:rPr lang="es-ES" b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RStudio</a:t>
            </a:r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) para poder implementarlos a la hora de realizar análisis, gestionar y modificar bases de datos, generar gráficos...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Usar R para el análisis de mis datos y la creación de gráficas.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Tengo nociones básicas de R, me gustaría conocer más el lenguaje para poder emplearlo en mis proyectos futuros.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Aprender mas de este programa </a:t>
            </a:r>
            <a:r>
              <a:rPr lang="es-ES" b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estadistico</a:t>
            </a:r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para luego poder llegar a procesar mis datos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Pretendo que el curso me sirva para analizar grandes cantidades de datos y poder visualizarlos de una manera más sencilla.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para usar para análisis estadísticos</a:t>
            </a:r>
          </a:p>
          <a:p>
            <a:pPr algn="l"/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Aprender las nociones básicas del programa estadístico, con el fin de poder implementarlo en mis futuras investigaciones y proyectos.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01515B-3DA1-4EA7-BB66-C7F6A2562E0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22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99674-D728-4292-A8C6-A812D0B56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EF5B76-E7FA-419C-BD71-6D6A4D3FA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0AE789-378C-4FE9-ACCF-AEF4ACDD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35B861-FF3E-418F-8970-1982BBB2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5A0D13-D668-4DCB-A4FA-B456ABFD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25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7D43D-D3B3-4A47-939A-2A107E96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5DBF52-FCC8-490D-8CF6-B6D41B01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54611E-E05B-4F35-ACD6-579C73FE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8DF066-E29E-4BB0-A03B-294A3B58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48802-0C2F-4D7C-992A-7D1AF50C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55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C771C-1C65-409D-A432-B6525A5E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89FB21-FA4B-4FDC-9070-05B5D0183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CB5AF1-D998-471A-B7E5-CF459127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B6A18-12F0-4399-84B1-C972EC55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9CF10-D656-464F-A29E-1E59D8CE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165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25BC-6932-4D4D-8110-DEEA44F7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84CFEB-C27B-44DF-8FF3-886326E9A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C875D-2F27-4A01-961B-B1C93BD1E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849ED9-F8CA-4D15-B61B-ED9C8896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D43C14-65E3-4F7F-9F1C-B54D8ED9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76C0BA-9EFA-4979-B47C-75FF52DC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930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15446-77A8-4BBE-A83A-4FF1F4E2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231D3A-2251-4EFE-BC83-D3599472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E4A2BF-155C-465A-938C-195D7650C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53C4BD-8519-4653-8C69-27B2C059E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533C87-76B7-4B91-AF7E-3201496E6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C6EA88-4DC0-4DD1-B031-F9DF2B24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B31154-0DB7-4DD8-BC6C-94F3C402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9E6A0B-4DEA-4D22-930A-22C6C65B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70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B59A2-257D-4646-AACE-F573E84E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CB3A6B-B04B-4BB3-BBEE-B578E417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1B353B-4F3E-4128-8592-2B32F65C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6E0AF5-8D1E-4B50-9C82-ECD292C9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35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BAAF85-55C6-49DF-9DF4-B3189EC9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34BF08-AEAD-42CE-B2B2-0E4E2A61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F7896C-2302-4EDA-8A83-FFA9C9C8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507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6E78F-8661-44D6-B242-564FD9BE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C9D96B-70D4-442B-89E8-314FB6FC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085A95-4560-4693-A263-E6291D6FA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67A48F-036C-4835-BC3D-E81D3331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C435ED-AB29-48C6-8497-3E05031B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5EBF23-26C2-4746-AFAA-7A756DE0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29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83695-A8A9-47D4-A45A-6CE9A4F3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C685DE-431E-4C87-931A-CE55D4BB9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9CFF26-2093-4437-B306-3F731F6AD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EC1B4-7645-4867-ACF0-3EF98073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E4E733-9339-4031-9852-9A3AC85E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217D2D-9609-48F3-96DF-22CD70E1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959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48977-07DC-4DD9-BA5F-8232FEFA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104A91-AD1D-4056-96B4-7B4B6F2DE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5BB7D0-1221-446A-AC65-1412BDBA6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A1A55-5086-46B3-AF68-248BA3B8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640D9-C94E-446E-8ABD-1121A691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83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6B3F09-9552-462B-8287-A156D41E9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9F323D-CC6F-4BA9-BD82-26D6BCD1B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5BBD48-EE1F-4C79-B838-434C9217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C2025-FB54-44DF-A7BD-F4B355AF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A5BAE3-C2DB-4907-958F-EA4037E8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2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73A660-01A8-4A6C-8457-9C196AD6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B695AE-218F-4F2F-9DED-7FF623BF4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ADB9D-0F5A-444F-A79C-CB128813B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FFBDB-F469-4D91-8C9C-64D0129455F0}" type="datetimeFigureOut">
              <a:rPr lang="es-ES" smtClean="0"/>
              <a:t>22/12/2025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23596-5658-4817-A1AA-164614D32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9CD0-0D76-4E09-B263-BEA71BF13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F42F9-E765-4E9A-8752-3C8B7267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31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aloma.ruizb@uah.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mailto:aloma.ruizb@uah.com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mailto:veronica.cral@gmail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7B1B5E-4B97-4D73-89E4-A67BF15C93E0}"/>
              </a:ext>
            </a:extLst>
          </p:cNvPr>
          <p:cNvSpPr txBox="1"/>
          <p:nvPr/>
        </p:nvSpPr>
        <p:spPr>
          <a:xfrm>
            <a:off x="0" y="94742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Manejo y visualización de datos en R</a:t>
            </a:r>
          </a:p>
          <a:p>
            <a:pPr algn="ctr"/>
            <a:endParaRPr lang="es-E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Paloma Ruiz Benito</a:t>
            </a: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paloma.ruizb@uah.es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Verónica Cruz Alonso</a:t>
            </a:r>
          </a:p>
          <a:p>
            <a:pPr algn="ctr"/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Marina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Rodes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Blanco</a:t>
            </a:r>
          </a:p>
          <a:p>
            <a:pPr algn="ctr"/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Julián Tijerín Triviño</a:t>
            </a:r>
          </a:p>
          <a:p>
            <a:pPr algn="ctr"/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enero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32C278-1128-4B97-A45E-AD286F176093}"/>
              </a:ext>
            </a:extLst>
          </p:cNvPr>
          <p:cNvSpPr txBox="1"/>
          <p:nvPr/>
        </p:nvSpPr>
        <p:spPr>
          <a:xfrm>
            <a:off x="0" y="-31946"/>
            <a:ext cx="12192000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 de Doctorado</a:t>
            </a:r>
            <a:endParaRPr lang="es-E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1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733E0C8-3B0A-4D70-93B0-BD6DE7386FC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004" y="109259"/>
            <a:ext cx="1273996" cy="97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6" descr="Paloma Ruiz Benito">
            <a:extLst>
              <a:ext uri="{FF2B5EF4-FFF2-40B4-BE49-F238E27FC236}">
                <a16:creationId xmlns:a16="http://schemas.microsoft.com/office/drawing/2014/main" id="{BD3385E3-73D2-4E3C-8A96-8F9FEC23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76" y="5261343"/>
            <a:ext cx="1430923" cy="14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DFB7998D-E51E-A86C-A74A-AF44CD077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666" y="4625569"/>
            <a:ext cx="1612900" cy="78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A8D968B-D091-732D-8C36-2CF30285844C}"/>
              </a:ext>
            </a:extLst>
          </p:cNvPr>
          <p:cNvSpPr/>
          <p:nvPr/>
        </p:nvSpPr>
        <p:spPr>
          <a:xfrm>
            <a:off x="1524000" y="2066827"/>
            <a:ext cx="9144000" cy="21852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Paloma Ruiz Benito</a:t>
            </a:r>
          </a:p>
          <a:p>
            <a:pPr algn="ctr"/>
            <a:endParaRPr lang="en-GB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Ciencias</a:t>
            </a: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Vida, Universidad de </a:t>
            </a:r>
            <a:r>
              <a:rPr lang="en-GB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Alcalá</a:t>
            </a:r>
            <a:endParaRPr lang="en-GB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paloma.ruizb@uah.com</a:t>
            </a: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8D0331-EB6A-8F76-991A-617C84723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423" y="5764049"/>
            <a:ext cx="4082143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8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Verónica Cruz-Alonso | Real Colegio Complutense">
            <a:extLst>
              <a:ext uri="{FF2B5EF4-FFF2-40B4-BE49-F238E27FC236}">
                <a16:creationId xmlns:a16="http://schemas.microsoft.com/office/drawing/2014/main" id="{BBFD73A7-8CB0-48C0-8ECC-8FA2F80D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38" y="4495068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BB3C82C-6768-3257-5A2A-F313120DFA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004" y="109259"/>
            <a:ext cx="1273996" cy="9752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D373579D-BBAC-A606-B2DE-B1CB446A6B90}"/>
              </a:ext>
            </a:extLst>
          </p:cNvPr>
          <p:cNvSpPr/>
          <p:nvPr/>
        </p:nvSpPr>
        <p:spPr>
          <a:xfrm>
            <a:off x="1524000" y="2066827"/>
            <a:ext cx="9144000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Verónica Cruz Alonso</a:t>
            </a:r>
          </a:p>
          <a:p>
            <a:pPr algn="ctr"/>
            <a:endParaRPr lang="en-GB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</a:t>
            </a:r>
            <a:r>
              <a:rPr lang="en-GB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Complutense</a:t>
            </a:r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Madrid</a:t>
            </a:r>
          </a:p>
          <a:p>
            <a:pPr algn="ctr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veronica.cral@gmail.com</a:t>
            </a: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4AB77C-8DD8-0C03-5D67-FF22912D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423" y="5764049"/>
            <a:ext cx="4082143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3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987DFBD0-8ECF-43F8-9A8D-B247D19458E6}"/>
              </a:ext>
            </a:extLst>
          </p:cNvPr>
          <p:cNvSpPr txBox="1"/>
          <p:nvPr/>
        </p:nvSpPr>
        <p:spPr>
          <a:xfrm>
            <a:off x="0" y="35922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endParaRPr lang="es-ES" sz="28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58B64C-9AB3-45E5-9365-710A10E550D4}"/>
              </a:ext>
            </a:extLst>
          </p:cNvPr>
          <p:cNvSpPr/>
          <p:nvPr/>
        </p:nvSpPr>
        <p:spPr>
          <a:xfrm>
            <a:off x="1285875" y="1822788"/>
            <a:ext cx="917357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2800" dirty="0">
                <a:solidFill>
                  <a:srgbClr val="005AAA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Apoyo a la </a:t>
            </a:r>
            <a:r>
              <a:rPr lang="es-ES" sz="2800" b="1" dirty="0">
                <a:solidFill>
                  <a:srgbClr val="005AAA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formación de investigadores en Ciencias</a:t>
            </a:r>
            <a:r>
              <a:rPr lang="es-ES" sz="2800" dirty="0">
                <a:solidFill>
                  <a:srgbClr val="005AAA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, tanto en el ámbito teórico como experimental y aplicado. Esta actividad formativa pretende proporcionar los </a:t>
            </a:r>
            <a:r>
              <a:rPr lang="es-ES" sz="2800" b="1" dirty="0">
                <a:solidFill>
                  <a:srgbClr val="005AAA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conocimientos básicos para el uso del programa estadístico R</a:t>
            </a:r>
            <a:r>
              <a:rPr lang="es-ES" sz="2800" dirty="0">
                <a:solidFill>
                  <a:srgbClr val="005AAA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80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CAF7F3-C9C8-428E-A930-98F52CB84D5D}"/>
              </a:ext>
            </a:extLst>
          </p:cNvPr>
          <p:cNvSpPr txBox="1"/>
          <p:nvPr/>
        </p:nvSpPr>
        <p:spPr>
          <a:xfrm>
            <a:off x="876300" y="1050445"/>
            <a:ext cx="9194800" cy="3077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l">
              <a:lnSpc>
                <a:spcPct val="107000"/>
              </a:lnSpc>
              <a:spcAft>
                <a:spcPts val="1200"/>
              </a:spcAft>
            </a:pPr>
            <a:r>
              <a:rPr lang="es-ES" sz="1800" b="1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Parte I.- Introducción a R</a:t>
            </a:r>
            <a:endParaRPr lang="es-E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Entornos de programación, introducción a R y </a:t>
            </a:r>
            <a:r>
              <a:rPr lang="es-E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RStudio</a:t>
            </a: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Conceptos básicos (tipos de datos, consejos de programación, definición de objetivos)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350" indent="-6350" algn="l">
              <a:lnSpc>
                <a:spcPct val="107000"/>
              </a:lnSpc>
              <a:spcAft>
                <a:spcPts val="1200"/>
              </a:spcAft>
            </a:pPr>
            <a:r>
              <a:rPr lang="es-ES" sz="1800" b="1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Parte II.- Manejo de datos</a:t>
            </a:r>
            <a:endParaRPr lang="es-E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Estructura de bases de datos: </a:t>
            </a:r>
            <a:r>
              <a:rPr lang="es-E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tidyverse</a:t>
            </a: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.</a:t>
            </a: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dirty="0">
                <a:solidFill>
                  <a:srgbClr val="333333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Estructuras de programación.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350" indent="-6350" algn="l">
              <a:lnSpc>
                <a:spcPct val="107000"/>
              </a:lnSpc>
              <a:spcAft>
                <a:spcPts val="120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391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CAF7F3-C9C8-428E-A930-98F52CB84D5D}"/>
              </a:ext>
            </a:extLst>
          </p:cNvPr>
          <p:cNvSpPr txBox="1"/>
          <p:nvPr/>
        </p:nvSpPr>
        <p:spPr>
          <a:xfrm>
            <a:off x="1003300" y="809145"/>
            <a:ext cx="9194800" cy="4421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l">
              <a:lnSpc>
                <a:spcPct val="107000"/>
              </a:lnSpc>
              <a:spcAft>
                <a:spcPts val="1200"/>
              </a:spcAft>
            </a:pPr>
            <a:r>
              <a:rPr lang="es-ES" sz="1800" b="1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Parte III.- Visualización de datos</a:t>
            </a:r>
            <a:endParaRPr lang="es-E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Introducción a ggplot2 para la visualización de datos.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Generación de los principales tipos de gráficos unidimensionales y bidimensionales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Personalización de gráficos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Gráficos </a:t>
            </a:r>
            <a:r>
              <a:rPr lang="es-E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multipanel</a:t>
            </a:r>
            <a:endParaRPr lang="es-ES" sz="1800" dirty="0"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erdana" panose="020B0604030504040204" pitchFamily="34" charset="0"/>
            </a:endParaRPr>
          </a:p>
          <a:p>
            <a:pPr lvl="0" algn="l">
              <a:lnSpc>
                <a:spcPct val="107000"/>
              </a:lnSpc>
              <a:spcAft>
                <a:spcPts val="1200"/>
              </a:spcAft>
            </a:pPr>
            <a:r>
              <a:rPr lang="es-ES" sz="1800" b="1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Parte IV.- Trabajo reproducible y colaborativo</a:t>
            </a:r>
            <a:endParaRPr lang="es-ES" sz="2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Trabajo reproducible y colaborativo.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Introducción a Git y GitHub.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l">
              <a:lnSpc>
                <a:spcPct val="107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s-ES" sz="180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Quarto</a:t>
            </a:r>
            <a:r>
              <a:rPr lang="es-ES" sz="18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Verdana" panose="020B0604030504040204" pitchFamily="34" charset="0"/>
              </a:rPr>
              <a:t>.</a:t>
            </a:r>
            <a:endParaRPr lang="es-ES" sz="2400" dirty="0">
              <a:solidFill>
                <a:srgbClr val="33333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s-ES" sz="1800" b="1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Parte V.- Presentación de trabajos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177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46647" y="188913"/>
            <a:ext cx="10459453" cy="798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s-ES" altLang="es-ES" b="1" dirty="0">
                <a:solidFill>
                  <a:srgbClr val="235BA5"/>
                </a:solidFill>
                <a:latin typeface="Arial"/>
                <a:cs typeface="Arial"/>
              </a:rPr>
              <a:t>Organización y horarios: </a:t>
            </a:r>
          </a:p>
          <a:p>
            <a:pPr marL="0" indent="0" eaLnBrk="1" hangingPunct="1">
              <a:buNone/>
              <a:defRPr/>
            </a:pPr>
            <a:endParaRPr lang="es-ES" altLang="es-E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 algn="ctr" eaLnBrk="1" hangingPunct="1">
              <a:buNone/>
              <a:defRPr/>
            </a:pPr>
            <a:r>
              <a:rPr lang="es-ES" altLang="es-ES" sz="2400" b="1" dirty="0">
                <a:solidFill>
                  <a:srgbClr val="000000"/>
                </a:solidFill>
                <a:latin typeface="Arial"/>
                <a:cs typeface="Arial"/>
              </a:rPr>
              <a:t>Teoría y scripts + trabajo grupo + </a:t>
            </a:r>
          </a:p>
          <a:p>
            <a:pPr marL="457200" lvl="1" indent="0" algn="ctr" eaLnBrk="1" hangingPunct="1">
              <a:buNone/>
              <a:defRPr/>
            </a:pPr>
            <a:r>
              <a:rPr lang="es-ES" altLang="es-ES" sz="2400" b="1" dirty="0">
                <a:solidFill>
                  <a:srgbClr val="000000"/>
                </a:solidFill>
                <a:latin typeface="Arial"/>
                <a:cs typeface="Arial"/>
              </a:rPr>
              <a:t>preguntas y seminario</a:t>
            </a:r>
          </a:p>
          <a:p>
            <a:pPr marL="457200" lvl="1" indent="0" algn="ctr" eaLnBrk="1" hangingPunct="1">
              <a:buNone/>
              <a:defRPr/>
            </a:pPr>
            <a:endParaRPr lang="es-ES" altLang="es-ES" sz="24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 algn="ctr" eaLnBrk="1" hangingPunct="1">
              <a:buNone/>
              <a:defRPr/>
            </a:pPr>
            <a:endParaRPr lang="es-ES" altLang="es-ES" sz="24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 algn="ctr" eaLnBrk="1" hangingPunct="1">
              <a:buNone/>
              <a:defRPr/>
            </a:pPr>
            <a:r>
              <a:rPr lang="es-ES" altLang="es-ES" sz="2400" b="1" dirty="0">
                <a:solidFill>
                  <a:srgbClr val="000000"/>
                </a:solidFill>
                <a:latin typeface="Arial"/>
                <a:cs typeface="Arial"/>
              </a:rPr>
              <a:t>Toda la semana de 9:00 a 14:00</a:t>
            </a:r>
            <a:endParaRPr lang="es-ES" altLang="es-ES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105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En qué etapa de la investigación te encuentras?. Número de respuestas: 13 respuestas.">
            <a:extLst>
              <a:ext uri="{FF2B5EF4-FFF2-40B4-BE49-F238E27FC236}">
                <a16:creationId xmlns:a16="http://schemas.microsoft.com/office/drawing/2014/main" id="{AB5A9E19-C50E-C51F-0E91-28CD3654F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98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Cuál es tu experiencia previa con R?. Número de respuestas: 13 respuestas.">
            <a:extLst>
              <a:ext uri="{FF2B5EF4-FFF2-40B4-BE49-F238E27FC236}">
                <a16:creationId xmlns:a16="http://schemas.microsoft.com/office/drawing/2014/main" id="{FD7C76A8-78E3-B0C7-C00E-440CA846C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37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Para qué usas R generalmente?. Número de respuestas: 12 respuestas.">
            <a:extLst>
              <a:ext uri="{FF2B5EF4-FFF2-40B4-BE49-F238E27FC236}">
                <a16:creationId xmlns:a16="http://schemas.microsoft.com/office/drawing/2014/main" id="{ABDA378C-0E19-C1FD-1D8C-3126B4AF0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00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Cuál es tu experiencia usando R para gestionar datos?. Número de respuestas: 13 respuestas.">
            <a:extLst>
              <a:ext uri="{FF2B5EF4-FFF2-40B4-BE49-F238E27FC236}">
                <a16:creationId xmlns:a16="http://schemas.microsoft.com/office/drawing/2014/main" id="{8C86959C-5920-A885-AD50-0366B1E56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614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Cuál es tu experiencia usando R para generar gráficos?. Número de respuestas: 13 respuestas.">
            <a:extLst>
              <a:ext uri="{FF2B5EF4-FFF2-40B4-BE49-F238E27FC236}">
                <a16:creationId xmlns:a16="http://schemas.microsoft.com/office/drawing/2014/main" id="{33C2FA0D-0A34-95FD-3515-407F2588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93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áfico de respuestas de formularios. Título de la pregunta: ¿Cuál es tu experiencia usando R con control de versiones o en proyectos colaborativos?. Número de respuestas: 13 respuestas.">
            <a:extLst>
              <a:ext uri="{FF2B5EF4-FFF2-40B4-BE49-F238E27FC236}">
                <a16:creationId xmlns:a16="http://schemas.microsoft.com/office/drawing/2014/main" id="{ABF55E3F-ED1D-7B42-F665-FC1F9B86C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72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EFA1-A13B-7A24-3A10-78E8FFCB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B2D7DB-ED25-0DD5-5F6E-2605258C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rgbClr val="202124"/>
                </a:solidFill>
                <a:latin typeface="Roboto" panose="02000000000000000000" pitchFamily="2" charset="0"/>
              </a:rPr>
              <a:t>A</a:t>
            </a:r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nalizar datos y hacer modelos</a:t>
            </a:r>
          </a:p>
          <a:p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manejo y visualización de datos</a:t>
            </a:r>
          </a:p>
          <a:p>
            <a:r>
              <a:rPr lang="es-ES" b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herramienta estadística para tratar los datos de mi tesis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48438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496</Words>
  <Application>Microsoft Office PowerPoint</Application>
  <PresentationFormat>Panorámica</PresentationFormat>
  <Paragraphs>63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Roboto</vt:lpstr>
      <vt:lpstr>Symbol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Ruiz Benito Paloma</dc:creator>
  <cp:lastModifiedBy>Ruiz Benito Paloma</cp:lastModifiedBy>
  <cp:revision>1</cp:revision>
  <dcterms:created xsi:type="dcterms:W3CDTF">2019-11-18T15:31:55Z</dcterms:created>
  <dcterms:modified xsi:type="dcterms:W3CDTF">2025-12-22T08:12:08Z</dcterms:modified>
</cp:coreProperties>
</file>